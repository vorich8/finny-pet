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26514bc0514cb2" /><Relationship Type="http://schemas.openxmlformats.org/officeDocument/2006/relationships/extended-properties" Target="/docProps/app.xml" Id="R513449c710124158" /><Relationship Type="http://schemas.openxmlformats.org/officeDocument/2006/relationships/officeDocument" Target="/ppt/presentation.xml" Id="Re407e3b8dc9141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e82c3c6b6e4379"/>
  </p:sldMasterIdLst>
  <p:notesMasterIdLst>
    <p:notesMasterId xmlns:r="http://schemas.openxmlformats.org/officeDocument/2006/relationships" r:id="R231e0a5ecf5544f9"/>
  </p:notesMasterIdLst>
  <p:sldIdLst>
    <p:sldId xmlns:r="http://schemas.openxmlformats.org/officeDocument/2006/relationships" id="256" r:id="R6a9b3418d1f84f94"/>
    <p:sldId xmlns:r="http://schemas.openxmlformats.org/officeDocument/2006/relationships" id="257" r:id="Raea1fe280dd14437"/>
    <p:sldId xmlns:r="http://schemas.openxmlformats.org/officeDocument/2006/relationships" id="258" r:id="R08a4bfc9fe3446aa"/>
    <p:sldId xmlns:r="http://schemas.openxmlformats.org/officeDocument/2006/relationships" id="259" r:id="Ra7b3302bc2834428"/>
    <p:sldId xmlns:r="http://schemas.openxmlformats.org/officeDocument/2006/relationships" id="260" r:id="R42c3e4a40fe144c4"/>
    <p:sldId xmlns:r="http://schemas.openxmlformats.org/officeDocument/2006/relationships" id="261" r:id="R704e3d6ba8bc4ca8"/>
    <p:sldId xmlns:r="http://schemas.openxmlformats.org/officeDocument/2006/relationships" id="262" r:id="R763210551bc64fe1"/>
    <p:sldId xmlns:r="http://schemas.openxmlformats.org/officeDocument/2006/relationships" id="263" r:id="Rf317a860ac7f4bfe"/>
    <p:sldId xmlns:r="http://schemas.openxmlformats.org/officeDocument/2006/relationships" id="264" r:id="R9b640307d11c481b"/>
    <p:sldId xmlns:r="http://schemas.openxmlformats.org/officeDocument/2006/relationships" id="265" r:id="R4c7b1b0a395e4e0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e909e40e604d6e" /><Relationship Type="http://schemas.openxmlformats.org/officeDocument/2006/relationships/slideMaster" Target="/ppt/slideMasters/slideMaster1.xml" Id="R0fe82c3c6b6e4379" /><Relationship Type="http://schemas.openxmlformats.org/officeDocument/2006/relationships/notesMaster" Target="/ppt/notesMasters/notesMaster1.xml" Id="R231e0a5ecf5544f9" /><Relationship Type="http://schemas.openxmlformats.org/officeDocument/2006/relationships/presProps" Target="/ppt/presProps.xml" Id="R04912bad0a1f4eff" /><Relationship Type="http://schemas.openxmlformats.org/officeDocument/2006/relationships/viewProps" Target="/ppt/viewProps.xml" Id="R013100a6b3cc4234" /><Relationship Type="http://schemas.openxmlformats.org/officeDocument/2006/relationships/tableStyles" Target="/ppt/tableStyles.xml" Id="Rd9d2c85fe5334e3c" /><Relationship Type="http://schemas.openxmlformats.org/officeDocument/2006/relationships/slide" Target="/ppt/slides/slide1.xml" Id="R6a9b3418d1f84f94" /><Relationship Type="http://schemas.openxmlformats.org/officeDocument/2006/relationships/slide" Target="/ppt/slides/slide2.xml" Id="Raea1fe280dd14437" /><Relationship Type="http://schemas.openxmlformats.org/officeDocument/2006/relationships/slide" Target="/ppt/slides/slide3.xml" Id="R08a4bfc9fe3446aa" /><Relationship Type="http://schemas.openxmlformats.org/officeDocument/2006/relationships/slide" Target="/ppt/slides/slide4.xml" Id="Ra7b3302bc2834428" /><Relationship Type="http://schemas.openxmlformats.org/officeDocument/2006/relationships/slide" Target="/ppt/slides/slide5.xml" Id="R42c3e4a40fe144c4" /><Relationship Type="http://schemas.openxmlformats.org/officeDocument/2006/relationships/slide" Target="/ppt/slides/slide6.xml" Id="R704e3d6ba8bc4ca8" /><Relationship Type="http://schemas.openxmlformats.org/officeDocument/2006/relationships/slide" Target="/ppt/slides/slide7.xml" Id="R763210551bc64fe1" /><Relationship Type="http://schemas.openxmlformats.org/officeDocument/2006/relationships/slide" Target="/ppt/slides/slide8.xml" Id="Rf317a860ac7f4bfe" /><Relationship Type="http://schemas.openxmlformats.org/officeDocument/2006/relationships/slide" Target="/ppt/slides/slide9.xml" Id="R9b640307d11c481b" /><Relationship Type="http://schemas.openxmlformats.org/officeDocument/2006/relationships/slide" Target="/ppt/slides/slide10.xml" Id="R4c7b1b0a395e4e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dbeefd23ac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8d97f5dfb14216" /><Relationship Type="http://schemas.openxmlformats.org/officeDocument/2006/relationships/notesMaster" Target="/ppt/notesMasters/notesMaster1.xml" Id="Rdfd79314f6424d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79477eb754ab9" /><Relationship Type="http://schemas.openxmlformats.org/officeDocument/2006/relationships/notesMaster" Target="/ppt/notesMasters/notesMaster1.xml" Id="Ra5fb82a930f6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6e9a485bf74ded" /><Relationship Type="http://schemas.openxmlformats.org/officeDocument/2006/relationships/notesMaster" Target="/ppt/notesMasters/notesMaster1.xml" Id="Rd27b4e9148d14a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5eb2a057f8401d" /><Relationship Type="http://schemas.openxmlformats.org/officeDocument/2006/relationships/notesMaster" Target="/ppt/notesMasters/notesMaster1.xml" Id="Rba4ab02804b8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2a1a28fcc443b" /><Relationship Type="http://schemas.openxmlformats.org/officeDocument/2006/relationships/notesMaster" Target="/ppt/notesMasters/notesMaster1.xml" Id="R49d921c8c96b4a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e620622b194ab9" /><Relationship Type="http://schemas.openxmlformats.org/officeDocument/2006/relationships/notesMaster" Target="/ppt/notesMasters/notesMaster1.xml" Id="R4915d74283ea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24d8cb0de4bbd" /><Relationship Type="http://schemas.openxmlformats.org/officeDocument/2006/relationships/notesMaster" Target="/ppt/notesMasters/notesMaster1.xml" Id="Rc69ceca4d8a04d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8c4af8cb0b4081" /><Relationship Type="http://schemas.openxmlformats.org/officeDocument/2006/relationships/notesMaster" Target="/ppt/notesMasters/notesMaster1.xml" Id="Rcb6ecd86a15a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4a245752a147a3" /><Relationship Type="http://schemas.openxmlformats.org/officeDocument/2006/relationships/notesMaster" Target="/ppt/notesMasters/notesMaster1.xml" Id="R54b2ff9f323c4f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c286871cf74046" /><Relationship Type="http://schemas.openxmlformats.org/officeDocument/2006/relationships/notesMaster" Target="/ppt/notesMasters/notesMaster1.xml" Id="R9007102c608c45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ТЗ Департамента финансов города Москвы, раздел 1 и 2.5.8–2.5.11. Скриншот: C:/FinnyPet/docs/screenshots/home.png.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ТЗ, приложение А и разделы 2.5.4–2.5.10. Схема отражает реализованный игровой цикл FinnyPet.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ТЗ, раздел 3.5–3.6. Скриншот: C:/FinnyPet/docs/screenshots/scales.png.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C:/FinnyPet/docs/REQUIREMENTS_MATRIX.md и C:/FinnyPet/docs/TEST_PLAN.md. Статусы приведены по состоянию проекта на 29.09.2026.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C:/FinnyPet/README.md, docs/RELEASE_CHECKLIST.md, docs/RUSTORE.md и docs/REQUIREMENTS_MATRIX.md.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ec05e279049b6" /><Relationship Type="http://schemas.openxmlformats.org/officeDocument/2006/relationships/image" Target="/ppt/media/image2.png" Id="R9526e9be6b4a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d860cfb0c45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057541b8d45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921afb3aa4e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de2b8940543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80ded1bec4b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1053ee0664bc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5c35f2ca349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25d53021b45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c89522af9492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10b6178c84eb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04db68ef449a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00a6dfc8d4f7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6ad65027e44c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8ac6a3e6741d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491d74765148f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5dfec723f442e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ce3f29449437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4df49300147b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d6bc000de7479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44b0911e64a4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24443397144d5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810515c894828" /></Relationships>
</file>

<file path=ppt/slideLayouts/slideLayout1.xml><?xml version="1.0" encoding="utf-8"?>
<p:sldLayout xmlns:p="http://schemas.openxmlformats.org/presentationml/2006/main" showMasterPhAnim="0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9526e9be6b4a4f09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5795359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2F8C8A8B-6132-477E-B461-321EE327974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Иконка задачи</a:t>
            </a:r>
            <a:endParaRPr/>
          </a:p>
        </p:txBody>
      </p:sp>
      <p:sp>
        <p:nvSpPr>
          <p:cNvPr id="73301062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E066AC4-F026-4253-BAAD-3123FDF6FC2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НАЗВАНИЕ КОМАНДЫ</a:t>
            </a:r>
            <a:endParaRPr/>
          </a:p>
        </p:txBody>
      </p:sp>
      <p:sp>
        <p:nvSpPr>
          <p:cNvPr id="610587295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CB15D3D6-0277-466E-AA78-6EEE53193A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Логотип/логотипы постановщика задачи</a:t>
            </a:r>
            <a:endParaRPr/>
          </a:p>
        </p:txBody>
      </p:sp>
      <p:sp>
        <p:nvSpPr>
          <p:cNvPr id="1917933258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F6386566-7C4E-463A-AE5F-E1E66818A5D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pPr>
              <a:buNone/>
            </a:pPr>
            <a:r>
              <a:rPr sz="1600" b="0"/>
              <a:t>Номер и название задачи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PhAnim="0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983987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12697B40-C3FA-4A87-9402-374087D51B4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Фото команды</a:t>
            </a:r>
            <a:endParaRPr/>
          </a:p>
        </p:txBody>
      </p:sp>
      <p:sp>
        <p:nvSpPr>
          <p:cNvPr id="114939876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9324055-E8B2-4B8D-A026-050866336C0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PhAnim="0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5603707" name="Дата 3">
            <a:extLst xmlns:a="http://schemas.openxmlformats.org/drawingml/2006/main">
              <a:ext uri="{FF2B5EF4-FFF2-40B4-BE49-F238E27FC236}">
                <a16:creationId xmlns:a16="http://schemas.microsoft.com/office/drawing/2014/main" id="{7BE0F430-6FE5-420A-B197-17841BA7966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67EB9651-F031-4963-AFE9-33BCC0E88757}" type="datetime1">
              <a:t>29.09.2026</a:t>
            </a:fld>
            <a:endParaRPr/>
          </a:p>
        </p:txBody>
      </p:sp>
      <p:sp>
        <p:nvSpPr>
          <p:cNvPr id="1384395181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4ADA892-BFA1-428D-A68C-BDB1247437F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5527640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151BFF2-F043-4881-8192-65E51CFF6FC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205813082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7439342-C765-4161-A876-1947FD86F8D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КОМАНДА «НАЗВАНИЕ»</a:t>
            </a:r>
            <a:endParaRPr/>
          </a:p>
        </p:txBody>
      </p:sp>
      <p:sp>
        <p:nvSpPr>
          <p:cNvPr id="8840005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609626C-5958-4F83-885F-B3DEFFB36468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13205248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6C2EAC9-AF20-4B83-8259-472B4D52BF75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67271090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2476B00-2C74-49F9-B66E-7A6C76786D07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21285855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0FE588-3D77-4BB0-A73B-17C366E6597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  <p:sp>
        <p:nvSpPr>
          <p:cNvPr id="143969690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E8544FF-F741-4947-B7BA-95DBBAC2F6C2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  <a:endParaRPr/>
          </a:p>
          <a:p xmlns:a="http://schemas.openxmlformats.org/drawingml/2006/main">
            <a:pPr lvl="0">
              <a:buNone/>
            </a:pPr>
            <a:r>
              <a:t>Telegram</a:t>
            </a:r>
            <a:endParaRPr/>
          </a:p>
          <a:p xmlns:a="http://schemas.openxmlformats.org/drawingml/2006/main">
            <a:pPr lvl="0">
              <a:buNone/>
            </a:pPr>
            <a:r>
              <a:t>Номер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PhAnim="0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2370142" name="Дата 3">
            <a:extLst xmlns:a="http://schemas.openxmlformats.org/drawingml/2006/main">
              <a:ext uri="{FF2B5EF4-FFF2-40B4-BE49-F238E27FC236}">
                <a16:creationId xmlns:a16="http://schemas.microsoft.com/office/drawing/2014/main" id="{14B7847D-C2D5-49B7-ACE7-4DF0BD8378F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1021F813-DBA1-42EC-A748-A9CC16659E6B}" type="datetime1">
              <a:t>29.09.2026</a:t>
            </a:fld>
            <a:endParaRPr/>
          </a:p>
        </p:txBody>
      </p:sp>
      <p:sp>
        <p:nvSpPr>
          <p:cNvPr id="144411555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1299202-894B-46E6-BD8F-515FD08859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70286076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84F1247-EBE7-4A25-AB86-58627BF800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0421365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2658230-91F0-4461-BB50-778D08CB4F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616313209" name="Дата 3">
            <a:extLst xmlns:a="http://schemas.openxmlformats.org/drawingml/2006/main">
              <a:ext uri="{FF2B5EF4-FFF2-40B4-BE49-F238E27FC236}">
                <a16:creationId xmlns:a16="http://schemas.microsoft.com/office/drawing/2014/main" id="{7419E12B-A83B-49B0-815A-367584F1361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7DE2642A-6018-4CC1-81AB-5FD8D2782D4F}" type="datetime1">
              <a:t>29.09.2026</a:t>
            </a:fld>
            <a:endParaRPr/>
          </a:p>
        </p:txBody>
      </p:sp>
      <p:sp>
        <p:nvSpPr>
          <p:cNvPr id="117396568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76317DC-2CFB-4355-AF54-3BAB51C228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80818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D6E27E4-6057-4977-AD4C-368070BACE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4303223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B5C9426-51D5-4D0C-A014-067CBAA185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PhAnim="0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364304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E53CB34-1CCF-4D41-8BCC-0EAF86036E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380367657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0519FF3C-FF73-4E86-84F5-3667908D3E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2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099247552" name="Дата 3">
            <a:extLst xmlns:a="http://schemas.openxmlformats.org/drawingml/2006/main">
              <a:ext uri="{FF2B5EF4-FFF2-40B4-BE49-F238E27FC236}">
                <a16:creationId xmlns:a16="http://schemas.microsoft.com/office/drawing/2014/main" id="{29E4F12F-28FB-4452-9D32-1DF5B2E717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3014BBE-C503-4380-A869-5EE8294FE947}" type="datetime1">
              <a:t>29.09.2026</a:t>
            </a:fld>
            <a:endParaRPr/>
          </a:p>
        </p:txBody>
      </p:sp>
      <p:sp>
        <p:nvSpPr>
          <p:cNvPr id="65109304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1528CB6-3FD7-4D99-9329-4D52E5899B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8994660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3F8D7F2-8F9E-4AE4-8154-72F3F66EE6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34558003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4015C4D-B833-41FC-B7D3-78C9FA528E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PhAnim="0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0731031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02988C01-D7C0-4363-8513-0512F3FCA3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84399873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AA303C84-28DD-447D-B825-80994E838DA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525211201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1CE4C6F6-B6AB-4B75-8991-C5FF7C8C986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6005098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88850B1F-EDA9-431F-8582-A78AA700697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2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83546470" name="Дата 3">
            <a:extLst xmlns:a="http://schemas.openxmlformats.org/drawingml/2006/main">
              <a:ext uri="{FF2B5EF4-FFF2-40B4-BE49-F238E27FC236}">
                <a16:creationId xmlns:a16="http://schemas.microsoft.com/office/drawing/2014/main" id="{E102D752-6B4B-4102-9DD1-EBC942292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D568497-304A-497F-ADAE-97D3CF462C1C}" type="datetime1">
              <a:t>29.09.2026</a:t>
            </a:fld>
            <a:endParaRPr/>
          </a:p>
        </p:txBody>
      </p:sp>
      <p:sp>
        <p:nvSpPr>
          <p:cNvPr id="163038424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9666B6C-6B91-44C1-9B0F-47D30A61BB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82295306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1C472B8-048A-4BBD-886F-13A564A03D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280756223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26FEBB-8D58-4A2D-BC7C-DB626E0E9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6883255" name="Дата 3">
            <a:extLst xmlns:a="http://schemas.openxmlformats.org/drawingml/2006/main">
              <a:ext uri="{FF2B5EF4-FFF2-40B4-BE49-F238E27FC236}">
                <a16:creationId xmlns:a16="http://schemas.microsoft.com/office/drawing/2014/main" id="{32E59481-F8C8-4E88-B1C2-3034037CDD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2CB240C-04A3-49D4-83F9-87A9C6C414DC}" type="datetime1">
              <a:t>29.09.2026</a:t>
            </a:fld>
            <a:endParaRPr/>
          </a:p>
        </p:txBody>
      </p:sp>
      <p:sp>
        <p:nvSpPr>
          <p:cNvPr id="136783483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CD1BF3D6-9EF3-4E9D-806D-EF85F67B82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11436766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CB1A131-17BF-4964-A820-B2E645F9CA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87284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FAEBA94-F125-4E8A-B040-CDBDE603EC3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099903190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1EDC99CE-5D02-4ACA-8F8C-21AC10E4CE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50"/>
            </a:lvl1pPr>
            <a:lvl2pPr>
              <a:buNone/>
              <a:defRPr sz="1500"/>
            </a:lvl2pPr>
            <a:lvl3pPr>
              <a:buNone/>
              <a:defRPr sz="1250"/>
            </a:lvl3pPr>
            <a:lvl4pPr>
              <a:buNone/>
              <a:defRPr sz="1150"/>
            </a:lvl4pPr>
            <a:lvl5pPr>
              <a:buNone/>
              <a:defRPr sz="1150"/>
            </a:lvl5pPr>
            <a:lvl6pPr>
              <a:buNone/>
              <a:defRPr sz="1250"/>
            </a:lvl6pPr>
            <a:lvl7pPr>
              <a:buNone/>
              <a:defRPr sz="1250"/>
            </a:lvl7pPr>
            <a:lvl8pPr>
              <a:buNone/>
              <a:defRPr sz="1250"/>
            </a:lvl8pPr>
            <a:lvl9pPr>
              <a:buNone/>
              <a:defRPr sz="12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61322499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150F422-D82A-4935-B245-433A260A487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47300579" name="Дата 3">
            <a:extLst xmlns:a="http://schemas.openxmlformats.org/drawingml/2006/main">
              <a:ext uri="{FF2B5EF4-FFF2-40B4-BE49-F238E27FC236}">
                <a16:creationId xmlns:a16="http://schemas.microsoft.com/office/drawing/2014/main" id="{6C92A9C8-6EE0-468F-A45A-F09ACC8D84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E74468B-3512-454B-AB51-7AE95604D39E}" type="datetime1">
              <a:t>29.09.2026</a:t>
            </a:fld>
            <a:endParaRPr/>
          </a:p>
        </p:txBody>
      </p:sp>
      <p:sp>
        <p:nvSpPr>
          <p:cNvPr id="46424810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21692A0-9091-4A13-9570-309989AAC8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21336996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F463B11-1B34-43ED-BDEC-7801F3DFBD6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PhAnim="0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6064212" name="Дата 4">
            <a:extLst xmlns:a="http://schemas.openxmlformats.org/drawingml/2006/main">
              <a:ext uri="{FF2B5EF4-FFF2-40B4-BE49-F238E27FC236}">
                <a16:creationId xmlns:a16="http://schemas.microsoft.com/office/drawing/2014/main" id="{CDB48B83-440F-42A3-A7E0-22FAE059F6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ABAB2196-A440-4E25-B9FF-D0ADB01B1A15}" type="datetime1">
              <a:t>29.09.2026</a:t>
            </a:fld>
            <a:endParaRPr/>
          </a:p>
        </p:txBody>
      </p:sp>
      <p:sp>
        <p:nvSpPr>
          <p:cNvPr id="1245717344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0B5767CF-2A13-46E6-AAE6-ECC59509FA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4895300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78D66FD-0E43-424F-AE90-8F2ED48BE0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90500354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C7D37753-2987-4D8C-9489-D98BB41443D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PhAnim="0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2286587" name="Дата 3">
            <a:extLst xmlns:a="http://schemas.openxmlformats.org/drawingml/2006/main">
              <a:ext uri="{FF2B5EF4-FFF2-40B4-BE49-F238E27FC236}">
                <a16:creationId xmlns:a16="http://schemas.microsoft.com/office/drawing/2014/main" id="{190E5993-8AB3-4528-B264-6C72F8919F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7BAE699-64F9-49EF-B784-2DEF2B221955}" type="datetime1">
              <a:t>29.09.2026</a:t>
            </a:fld>
            <a:endParaRPr/>
          </a:p>
        </p:txBody>
      </p:sp>
      <p:sp>
        <p:nvSpPr>
          <p:cNvPr id="88273944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4B83A46-42FA-44DE-853D-956BDE41648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290722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5EE0D86-70C5-4E32-8BFB-F6E0A216719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6074393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9E35722-8764-4D59-816E-AD19770916E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954110349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6772BE98-5A0E-4C25-98C2-7733BAB1F98E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79330151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6425D7D-F92A-4A3A-B7FD-3CEDF195ECCB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87161300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FAF0793-409A-4495-9CCD-5FD560D527E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78970463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EE469FE-2EB8-4C54-A386-1B97D2B30C9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682385569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7F6071B-7A03-4020-A608-EE8AB17CF687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44860504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602C39F-E78A-4566-8929-5738DA53D6AF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31833534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52446AEF-DACC-41F3-99BD-5454A58DEC44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79279495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EEA9624-A8E2-4BE8-B317-6EF15E8742DB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188028600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9572C8A-453E-4D12-A1ED-34A7C33AA5DF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96249939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785AE0E7-B07E-4A4F-B70C-B909C5C127B2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  <a:endParaRPr/>
          </a:p>
        </p:txBody>
      </p:sp>
      <p:sp>
        <p:nvSpPr>
          <p:cNvPr id="559825438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9F8B2E77-3B43-48EA-834F-4E127B743814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  <a:endParaRPr/>
          </a:p>
        </p:txBody>
      </p:sp>
      <p:sp>
        <p:nvSpPr>
          <p:cNvPr id="15766165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D033FB3-2AF3-441F-AFF7-05248DF8C0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98496405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802F4D-F770-4BB8-83AB-F93846772730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2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7637156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03F41D-187C-4C66-BE5F-175A157B03A8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  <a:endParaRPr/>
          </a:p>
        </p:txBody>
      </p:sp>
      <p:sp>
        <p:nvSpPr>
          <p:cNvPr id="122138297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B19C3ACC-B644-4ADE-B613-0E7BBFF757C3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  <a:endParaRPr/>
          </a:p>
        </p:txBody>
      </p:sp>
      <p:sp>
        <p:nvSpPr>
          <p:cNvPr id="35293054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DCE5F872-632B-4E54-8425-6176D13C0528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  <a:endParaRPr/>
          </a:p>
        </p:txBody>
      </p:sp>
      <p:sp>
        <p:nvSpPr>
          <p:cNvPr id="9937258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AD2956C-276F-4D4D-B99F-8AF5F11F52AE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  <a:endParaRPr/>
          </a:p>
        </p:txBody>
      </p:sp>
      <p:sp>
        <p:nvSpPr>
          <p:cNvPr id="11051256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E31C285-EFE1-4C7B-866D-F9DC1461CE6F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PhAnim="0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042985" name="Дата 3">
            <a:extLst xmlns:a="http://schemas.openxmlformats.org/drawingml/2006/main">
              <a:ext uri="{FF2B5EF4-FFF2-40B4-BE49-F238E27FC236}">
                <a16:creationId xmlns:a16="http://schemas.microsoft.com/office/drawing/2014/main" id="{D001AEEF-0DB5-4C7D-BA59-304098B315F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CAFA80CC-940E-479C-90C0-76DA923785E9}" type="datetime1">
              <a:t>29.09.2026</a:t>
            </a:fld>
            <a:endParaRPr/>
          </a:p>
        </p:txBody>
      </p:sp>
      <p:sp>
        <p:nvSpPr>
          <p:cNvPr id="73068613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8A8B681-F6C8-4797-8433-EC1E50378A6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30485733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5371755-E882-4697-B515-7BDEDDD34F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648070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FD049F5-8409-4473-A3B0-B60B3CB5C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977831274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F504BAD6-15F7-4E30-B7F8-C136D7A98FF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46223486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3F97960A-75BD-484D-A0EB-00F6E8965870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97612373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F9BDCCC8-4578-4B0B-8A91-AEBEF9FBC601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7683169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CEBA53A2-C4A7-4800-8A91-0AF34697968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PhAnim="0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683918" name="Дата 3">
            <a:extLst xmlns:a="http://schemas.openxmlformats.org/drawingml/2006/main">
              <a:ext uri="{FF2B5EF4-FFF2-40B4-BE49-F238E27FC236}">
                <a16:creationId xmlns:a16="http://schemas.microsoft.com/office/drawing/2014/main" id="{8DCF670F-9262-4880-ABF9-E0DDE5F55E9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82A4DA7B-A7D8-4443-AD1C-4C7CDC678488}" type="datetime1">
              <a:t>29.09.2026</a:t>
            </a:fld>
            <a:endParaRPr/>
          </a:p>
        </p:txBody>
      </p:sp>
      <p:sp>
        <p:nvSpPr>
          <p:cNvPr id="16406656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75117D6-C712-4A9B-AEAA-4A27AAFCCA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37984604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3E226B11-4D7E-48F4-8A0C-7DB142B136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595334455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020F4FA5-4420-43A0-B1B8-B7683FA9E6C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  <a:endParaRPr/>
          </a:p>
        </p:txBody>
      </p:sp>
      <p:sp>
        <p:nvSpPr>
          <p:cNvPr id="3746344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E498FF1B-6862-439D-88A4-F76B1840A7A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3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39901032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77F92C51-C6D4-4C91-B42D-704851D12AB3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3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50127473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C0135354-0CC9-4C25-93F4-325CE3525016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3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4710749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CA4B7D99-1E38-43E1-A396-3A9B214C48B0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3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10244312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2B4C07CF-B84C-4086-8753-E9EE00BC2B2D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3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PhAnim="0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8499997" name="Дата 3">
            <a:extLst xmlns:a="http://schemas.openxmlformats.org/drawingml/2006/main">
              <a:ext uri="{FF2B5EF4-FFF2-40B4-BE49-F238E27FC236}">
                <a16:creationId xmlns:a16="http://schemas.microsoft.com/office/drawing/2014/main" id="{7451D40D-33E1-432D-B14C-487FE7DCA72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4E505DF-C567-47F2-9374-60838F800101}" type="datetime1">
              <a:t>29.09.2026</a:t>
            </a:fld>
            <a:endParaRPr/>
          </a:p>
        </p:txBody>
      </p:sp>
      <p:sp>
        <p:nvSpPr>
          <p:cNvPr id="47541713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8D7D20-FE0F-40D9-A4B6-A108FEE272D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1933519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59754CBD-E85C-4EF1-94E8-D60CABFD2D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23007736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78F06E0-7EFF-4AA7-B772-892BF926AE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77032671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6279BCF-506A-4EF1-A94B-3F758A129470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2561834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2878F51-3744-4022-8D5B-2394477CD739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619162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21BA06-8D9B-4624-9DC4-53BCEDABF9B8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0271768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BCDB863-DEC2-4BC0-A8C7-4B3067C586EC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0440468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D1382E2-D1D5-4F7B-ABE4-BD1F72EB184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83357256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037E08F-B201-464A-BB89-BF9755561F9E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PhAnim="0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5666869" name="Дата 3">
            <a:extLst xmlns:a="http://schemas.openxmlformats.org/drawingml/2006/main">
              <a:ext uri="{FF2B5EF4-FFF2-40B4-BE49-F238E27FC236}">
                <a16:creationId xmlns:a16="http://schemas.microsoft.com/office/drawing/2014/main" id="{A5F10733-031B-4E64-8B86-C4487BA3726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2938A0C3-5C2F-47B8-B008-79A49A1195BA}" type="datetime1">
              <a:t>29.09.2026</a:t>
            </a:fld>
            <a:endParaRPr/>
          </a:p>
        </p:txBody>
      </p:sp>
      <p:sp>
        <p:nvSpPr>
          <p:cNvPr id="1880806758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9B10F35-32E1-4860-834A-62A19B3F03C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2445912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B095CDD1-FA80-4284-B550-B6F28BC4B1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4396352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13F0737-473E-45A3-A6B7-E5AFCF8EA2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76289492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94DC49C-5668-4FFA-88A6-D357C7274FDF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4657753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D405C2D-6069-4934-AD85-12D3AC967D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882790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52F587E-92CB-41E2-A4CB-697BAE6468E0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7804322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E6698CF-AB1B-4719-ADE3-32C060825C7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8284595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7D506A-6183-4CFB-B17B-8A7FF5F3DF24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2486140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B8AC449-252D-47CA-A3AC-BB670CAFA24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4127054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D800781-4599-4D38-846D-25526583D9B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9462458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65BA168-F708-4497-907E-F9767347D418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PhAnim="0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170182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30B85B1-74CB-4847-B375-6E1FCEF9EEF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BF4F29EB-DFD0-428E-8E89-ED117A3553E3}" type="datetime1">
              <a:t>29.09.2026</a:t>
            </a:fld>
            <a:endParaRPr/>
          </a:p>
        </p:txBody>
      </p:sp>
      <p:sp>
        <p:nvSpPr>
          <p:cNvPr id="149912304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30987A58-4873-48CB-A62B-5143B2AA077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76417316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C93DA58-EE4C-43FB-BBAE-24776528FBB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399891199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344AF20-3595-4709-83F2-3E97AAABEE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27812280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CD80279-F6D0-4EFA-A856-8DDE7252840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5248016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04F21A5-8152-42EA-B4EE-942AC60DD1D0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85942280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BAF3F38-8482-4CA9-8475-A5760E5897E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318545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7D0BC52-32E3-499A-9C79-17A2FA432B26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264374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A9E95F2-4C05-482E-8513-22B99BAA4F32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8832279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4697ABC-4E01-47A4-BC46-DF9DC3460BEA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917599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FF2675A-5824-4AB9-AE81-44048733AA06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8533485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AB13F0-72CB-456E-A40E-3C2FD7E4E31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PhAnim="0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518010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402BBB-F78B-493E-9C86-7F3C7BD5DB7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52F0272-0FEA-44CE-966E-3D169B2F53D4}" type="datetime1">
              <a:t>29.09.2026</a:t>
            </a:fld>
            <a:endParaRPr/>
          </a:p>
        </p:txBody>
      </p:sp>
      <p:sp>
        <p:nvSpPr>
          <p:cNvPr id="1411192357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811FBC1-4766-4428-A9BD-EE3601F1E0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64137859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B4EF243-38DF-43BD-B721-1F8C38EBFE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51643786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36CA6D6-5478-44EA-B88E-D84785BF7DCB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7805107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27A889A-933D-410E-9F42-1DFE7455A3FF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011735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269D404-F2FE-4F7C-9C4B-F3DED6D255C9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65810258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4D6B54B-E911-4118-B0F6-C99D8E46519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3658724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F766F70-03E0-4F76-80C8-F7B8A83969E8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324314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DE611F2-A3FE-4699-9BC8-7FC05721B80F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30279620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404ED20-DDF1-4EAA-AECE-75C22168088D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0656858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C84E58E-9E7B-4F65-95C5-B7E539EEE1F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36719859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FDB37FE-9265-4834-AD59-59BB52C9A807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09498698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ACE2C90-E76F-44B9-BD67-7B03DFB3750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73028278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3637B3F-6A79-4D91-B51F-BEB22073C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PhAnim="0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9093918" name="Дата 3">
            <a:extLst xmlns:a="http://schemas.openxmlformats.org/drawingml/2006/main">
              <a:ext uri="{FF2B5EF4-FFF2-40B4-BE49-F238E27FC236}">
                <a16:creationId xmlns:a16="http://schemas.microsoft.com/office/drawing/2014/main" id="{9BE21FD5-71A7-413A-AC2F-8D39A5ED0D4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062B0DBE-B5A9-470E-85A9-7CC062D5339A}" type="datetime1">
              <a:t>29.09.2026</a:t>
            </a:fld>
            <a:endParaRPr/>
          </a:p>
        </p:txBody>
      </p:sp>
      <p:sp>
        <p:nvSpPr>
          <p:cNvPr id="795853354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11DFA098-A17A-4211-BBA9-E709A1077A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0852272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F82DBCCF-646D-420A-93CF-86C468F23C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213285345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E489CE9-788A-4B87-BAD3-FD512FABAB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14199110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E4853E7-07E9-4E1F-B796-0C44896F0BC2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  <a:endParaRPr/>
          </a:p>
        </p:txBody>
      </p:sp>
      <p:sp>
        <p:nvSpPr>
          <p:cNvPr id="10534726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7ED0FA-3CCA-40EA-815E-1F2E88A74C1E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50148156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4DE1A1C9-2DB4-4CAC-A69D-DB513C32C8BA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  <a:endParaRPr/>
          </a:p>
        </p:txBody>
      </p:sp>
      <p:sp>
        <p:nvSpPr>
          <p:cNvPr id="72117544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40E9369-02E6-4D1C-992C-A97297C54CCB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  <a:endParaRPr/>
          </a:p>
        </p:txBody>
      </p:sp>
      <p:sp>
        <p:nvSpPr>
          <p:cNvPr id="101999516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9D4D1DA-409C-478B-AA64-4F90967B96D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  <a:endParaRPr/>
          </a:p>
        </p:txBody>
      </p:sp>
      <p:sp>
        <p:nvSpPr>
          <p:cNvPr id="130631419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EC56EB9-0173-4A16-B7D3-E92A10BFF58D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PhAnim="0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89799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C98E3C7-0711-49B1-B536-B30FD9252B13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2109569148" name="Дата 3">
            <a:extLst xmlns:a="http://schemas.openxmlformats.org/drawingml/2006/main">
              <a:ext uri="{FF2B5EF4-FFF2-40B4-BE49-F238E27FC236}">
                <a16:creationId xmlns:a16="http://schemas.microsoft.com/office/drawing/2014/main" id="{22808D76-EB69-4185-AB1B-DA935A9A9AA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4D396B86-640F-4AD1-BBB2-E085B6CD8771}" type="datetime1">
              <a:t>29.09.2026</a:t>
            </a:fld>
            <a:endParaRPr/>
          </a:p>
        </p:txBody>
      </p:sp>
      <p:sp>
        <p:nvSpPr>
          <p:cNvPr id="82224147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031BAFC7-A8CB-4086-B7D5-5517812E7C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912596872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87A0B2C0-F560-414C-9302-29DB8DE3DE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8636334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3095E83-CF28-4B35-A158-67A788A847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55903915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126A3976-9111-451E-90A1-23B4E14C34B4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26297805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E7165988-2DA5-4796-93C5-3C237615874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50518070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AE5A4F5-1BB4-43CC-8D54-9492CC3F630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PhAnim="0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3494762" name="Дата 3">
            <a:extLst xmlns:a="http://schemas.openxmlformats.org/drawingml/2006/main">
              <a:ext uri="{FF2B5EF4-FFF2-40B4-BE49-F238E27FC236}">
                <a16:creationId xmlns:a16="http://schemas.microsoft.com/office/drawing/2014/main" id="{6FD94B46-F380-4E26-B2B6-76362C0687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3AF0E63-1EB1-47F5-B09E-CA3E5DE528F3}" type="datetime1">
              <a:t>29.09.2026</a:t>
            </a:fld>
            <a:endParaRPr/>
          </a:p>
        </p:txBody>
      </p:sp>
      <p:sp>
        <p:nvSpPr>
          <p:cNvPr id="103881623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A3D7FA0D-DC38-4B44-B335-641F73AD7FE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6307501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5180CF6-8041-49A3-BDB2-58C8511893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537191298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00AB7BB6-9E20-471E-B470-D8B638C1A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468174656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308F6D-5AA7-4CCE-9FD8-39D7D67C788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01019166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67D91B5-9E67-4E64-88CF-F2DFF61C0C30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206119827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5946B7A-08EC-49C7-AA94-C263D42F12C5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57358073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893A6CFE-9C90-4E6D-AE4D-DBDC6536673B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showMasterPhAnim="0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7613842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A405F26B-3A98-42A5-8FB1-09ABEF36723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1107708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BBB7027-8135-4C07-B798-75AD1CDE9BF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99892806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966CA50-ACEB-453B-9420-8C364ADEDC2E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653143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C65A34D-83E4-4F6E-AD54-BA5B62660693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0" y="1641283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1238672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A05906A-A63C-44BB-AB94-7AD80D4F983B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0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98343999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D0DDE87-E557-4B73-B304-7B7FD9379850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48131473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57B9934-E5FD-4ED5-ACEA-53577BD345EF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12709654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03CD30A-9077-4B65-8043-E9A46639AC1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0" y="3864598"/>
            <a:ext cx="3812931" cy="1021701"/>
          </a:xfrm>
          <a:prstGeom xmlns:a="http://schemas.openxmlformats.org/drawingml/2006/main" prst="roundRect">
            <a:avLst>
              <a:gd name="adj" fmla="val 166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sp>
        <p:nvSpPr>
          <p:cNvPr id="212253320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CEED1E0-D889-4763-88D8-D0AC6745A4A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0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</p:txBody>
      </p:sp>
      <p:cxnSp>
        <p:nvCxnSpPr>
          <p:cNvPr id="2122533292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2533293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2533294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2533295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712406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3BF2C67E-6009-4DF8-A960-03E7F30865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615393232" name="Дата 8">
            <a:extLst xmlns:a="http://schemas.openxmlformats.org/drawingml/2006/main">
              <a:ext uri="{FF2B5EF4-FFF2-40B4-BE49-F238E27FC236}">
                <a16:creationId xmlns:a16="http://schemas.microsoft.com/office/drawing/2014/main" id="{D63AF18D-1E6D-4B86-946A-5B1C224FEFFD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9D490EE5-ED7D-46E8-8345-A78A0CB0F4A4}" type="datetime1">
              <a:t>29.09.2026</a:t>
            </a:fld>
            <a:endParaRPr/>
          </a:p>
        </p:txBody>
      </p:sp>
      <p:sp>
        <p:nvSpPr>
          <p:cNvPr id="1274562082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19AF3DB8-BA0D-4AB1-AE76-7706D86DEE67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89945584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1D1A275-CD4F-4C8E-AA21-15322993AC56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PhAnim="0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082252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5D305FF-DABE-4910-AFE8-2BA1CEF7BA7E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59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095634398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1C89DCC-4C08-4DFA-96B9-18BEE4A5881F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201303251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A9B290F-5D49-4E67-AB46-15C522DBAFB4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97138850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5E42F2A-C931-43CA-A113-5F15BCDB27B6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261821593" name="Дата 3">
            <a:extLst xmlns:a="http://schemas.openxmlformats.org/drawingml/2006/main">
              <a:ext uri="{FF2B5EF4-FFF2-40B4-BE49-F238E27FC236}">
                <a16:creationId xmlns:a16="http://schemas.microsoft.com/office/drawing/2014/main" id="{03617CDB-4AE7-4F22-B8E3-BC6EC1AC8FD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C8C16AD-D907-4463-BE30-FCBB33ACAE3F}" type="datetime1">
              <a:t>29.09.2026</a:t>
            </a:fld>
            <a:endParaRPr/>
          </a:p>
        </p:txBody>
      </p:sp>
      <p:sp>
        <p:nvSpPr>
          <p:cNvPr id="93215198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3E0CF74-42BF-4BB1-BABF-EA8D7F88665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2847287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F51FD8C-D2D0-4906-810F-11DE6B029A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  <p:sp>
        <p:nvSpPr>
          <p:cNvPr id="1236194403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414E9A6-A87A-4BC9-9EF7-0A41297163C0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42434721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A639C7C-DC23-4671-805D-8A7468C6ACD1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91896175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1DB93F9-1090-41F8-8A6A-0E56A6AD4C2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0316116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1BE961A-62FC-4E97-B439-BF40CAB894A7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11616776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C16DE7C-0B05-447C-A194-0474BC76A7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PhAnim="0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85ddd8767ba64a48" /><Relationship Type="http://schemas.openxmlformats.org/officeDocument/2006/relationships/theme" Target="/ppt/slideMasters/theme/theme2.xml" Id="R1387c6ebdb9743ae" /><Relationship Type="http://schemas.openxmlformats.org/officeDocument/2006/relationships/slideLayout" Target="/ppt/slideLayouts/slideLayout1.xml" Id="R9b86f7ed64804380" /><Relationship Type="http://schemas.openxmlformats.org/officeDocument/2006/relationships/slideLayout" Target="/ppt/slideLayouts/slideLayout2.xml" Id="R56b8952a22544105" /><Relationship Type="http://schemas.openxmlformats.org/officeDocument/2006/relationships/slideLayout" Target="/ppt/slideLayouts/slideLayout3.xml" Id="Rd4ff34d4d510479d" /><Relationship Type="http://schemas.openxmlformats.org/officeDocument/2006/relationships/slideLayout" Target="/ppt/slideLayouts/slideLayout4.xml" Id="R3ca4d8c0efea4cc6" /><Relationship Type="http://schemas.openxmlformats.org/officeDocument/2006/relationships/slideLayout" Target="/ppt/slideLayouts/slideLayout5.xml" Id="R4327deed56d04a2a" /><Relationship Type="http://schemas.openxmlformats.org/officeDocument/2006/relationships/slideLayout" Target="/ppt/slideLayouts/slideLayout6.xml" Id="R34f2f9c659a84560" /><Relationship Type="http://schemas.openxmlformats.org/officeDocument/2006/relationships/slideLayout" Target="/ppt/slideLayouts/slideLayout7.xml" Id="R1bd506d55d324585" /><Relationship Type="http://schemas.openxmlformats.org/officeDocument/2006/relationships/slideLayout" Target="/ppt/slideLayouts/slideLayout8.xml" Id="R4ab016151d594305" /><Relationship Type="http://schemas.openxmlformats.org/officeDocument/2006/relationships/slideLayout" Target="/ppt/slideLayouts/slideLayout9.xml" Id="Re7e1bf3f29174e6d" /><Relationship Type="http://schemas.openxmlformats.org/officeDocument/2006/relationships/slideLayout" Target="/ppt/slideLayouts/slideLayout10.xml" Id="Rfe2654c7a620464e" /><Relationship Type="http://schemas.openxmlformats.org/officeDocument/2006/relationships/slideLayout" Target="/ppt/slideLayouts/slideLayout11.xml" Id="R8e68d7cb1c104eae" /><Relationship Type="http://schemas.openxmlformats.org/officeDocument/2006/relationships/slideLayout" Target="/ppt/slideLayouts/slideLayout12.xml" Id="Rd967af3615914c7b" /><Relationship Type="http://schemas.openxmlformats.org/officeDocument/2006/relationships/slideLayout" Target="/ppt/slideLayouts/slideLayout13.xml" Id="R85e42a0d2ba4485c" /><Relationship Type="http://schemas.openxmlformats.org/officeDocument/2006/relationships/slideLayout" Target="/ppt/slideLayouts/slideLayout14.xml" Id="R55cd4f9c3a184693" /><Relationship Type="http://schemas.openxmlformats.org/officeDocument/2006/relationships/slideLayout" Target="/ppt/slideLayouts/slideLayout15.xml" Id="Raf592ebd0f244834" /><Relationship Type="http://schemas.openxmlformats.org/officeDocument/2006/relationships/slideLayout" Target="/ppt/slideLayouts/slideLayout16.xml" Id="Reffcfe10108c46e2" /><Relationship Type="http://schemas.openxmlformats.org/officeDocument/2006/relationships/slideLayout" Target="/ppt/slideLayouts/slideLayout17.xml" Id="R77c06b54d5f84204" /><Relationship Type="http://schemas.openxmlformats.org/officeDocument/2006/relationships/slideLayout" Target="/ppt/slideLayouts/slideLayout18.xml" Id="Rc5c80776c7c24e5f" /><Relationship Type="http://schemas.openxmlformats.org/officeDocument/2006/relationships/slideLayout" Target="/ppt/slideLayouts/slideLayout19.xml" Id="R9c742f173df1431b" /><Relationship Type="http://schemas.openxmlformats.org/officeDocument/2006/relationships/slideLayout" Target="/ppt/slideLayouts/slideLayout20.xml" Id="R048cb1adf6c44e24" /><Relationship Type="http://schemas.openxmlformats.org/officeDocument/2006/relationships/slideLayout" Target="/ppt/slideLayouts/slideLayout21.xml" Id="R329ec7c6108e492e" /><Relationship Type="http://schemas.openxmlformats.org/officeDocument/2006/relationships/slideLayout" Target="/ppt/slideLayouts/slideLayout22.xml" Id="Re65d2592c44d4a31" /><Relationship Type="http://schemas.openxmlformats.org/officeDocument/2006/relationships/slideLayout" Target="/ppt/slideLayouts/slideLayout23.xml" Id="Rb6c223713b104983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ddd8767ba64a48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764469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9F5D3DD-B41A-4D3D-B551-AFB594471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ЗАГОЛОВКА</a:t>
            </a:r>
            <a:endParaRPr/>
          </a:p>
        </p:txBody>
      </p:sp>
      <p:sp>
        <p:nvSpPr>
          <p:cNvPr id="1046595421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F814371-0F9A-499B-BB13-34B62D5692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  <a:endParaRPr/>
          </a:p>
          <a:p xmlns:a="http://schemas.openxmlformats.org/drawingml/2006/main">
            <a:pPr lvl="1">
              <a:buNone/>
            </a:pPr>
            <a:r>
              <a:t>Второй уровень</a:t>
            </a:r>
            <a:endParaRPr/>
          </a:p>
          <a:p xmlns:a="http://schemas.openxmlformats.org/drawingml/2006/main">
            <a:pPr lvl="2">
              <a:buNone/>
            </a:pPr>
            <a:r>
              <a:t>Третий уровень</a:t>
            </a:r>
            <a:endParaRPr/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  <a:endParaRPr/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29049754" name="Дата 3">
            <a:extLst xmlns:a="http://schemas.openxmlformats.org/drawingml/2006/main">
              <a:ext uri="{FF2B5EF4-FFF2-40B4-BE49-F238E27FC236}">
                <a16:creationId xmlns:a16="http://schemas.microsoft.com/office/drawing/2014/main" id="{654530BA-A8FE-4E07-B50E-99E2C69180B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9D490EE5-ED7D-46E8-8345-A78A0CB0F4A4}" type="datetime1">
              <a:t>29.09.2026</a:t>
            </a:fld>
            <a:endParaRPr/>
          </a:p>
        </p:txBody>
      </p:sp>
      <p:sp>
        <p:nvSpPr>
          <p:cNvPr id="201461702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A3D97F6-05E5-493A-9DF8-F1BAC8BEFA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5273124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D66C0B24-0853-48C0-B667-74C5DB4984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pPr>
              <a:buNone/>
            </a:pPr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86f7ed64804380"/>
    <p:sldLayoutId xmlns:r="http://schemas.openxmlformats.org/officeDocument/2006/relationships" id="2147483650" r:id="R56b8952a22544105"/>
    <p:sldLayoutId xmlns:r="http://schemas.openxmlformats.org/officeDocument/2006/relationships" id="2147483651" r:id="Rd4ff34d4d510479d"/>
    <p:sldLayoutId xmlns:r="http://schemas.openxmlformats.org/officeDocument/2006/relationships" id="2147483652" r:id="R3ca4d8c0efea4cc6"/>
    <p:sldLayoutId xmlns:r="http://schemas.openxmlformats.org/officeDocument/2006/relationships" id="2147483653" r:id="R4327deed56d04a2a"/>
    <p:sldLayoutId xmlns:r="http://schemas.openxmlformats.org/officeDocument/2006/relationships" id="2147483654" r:id="R34f2f9c659a84560"/>
    <p:sldLayoutId xmlns:r="http://schemas.openxmlformats.org/officeDocument/2006/relationships" id="2147483655" r:id="R1bd506d55d324585"/>
    <p:sldLayoutId xmlns:r="http://schemas.openxmlformats.org/officeDocument/2006/relationships" id="2147483656" r:id="R4ab016151d594305"/>
    <p:sldLayoutId xmlns:r="http://schemas.openxmlformats.org/officeDocument/2006/relationships" id="2147483657" r:id="Re7e1bf3f29174e6d"/>
    <p:sldLayoutId xmlns:r="http://schemas.openxmlformats.org/officeDocument/2006/relationships" id="2147483658" r:id="Rfe2654c7a620464e"/>
    <p:sldLayoutId xmlns:r="http://schemas.openxmlformats.org/officeDocument/2006/relationships" id="2147483659" r:id="R8e68d7cb1c104eae"/>
    <p:sldLayoutId xmlns:r="http://schemas.openxmlformats.org/officeDocument/2006/relationships" id="2147483660" r:id="Rd967af3615914c7b"/>
    <p:sldLayoutId xmlns:r="http://schemas.openxmlformats.org/officeDocument/2006/relationships" id="2147483661" r:id="R85e42a0d2ba4485c"/>
    <p:sldLayoutId xmlns:r="http://schemas.openxmlformats.org/officeDocument/2006/relationships" id="2147483662" r:id="R55cd4f9c3a184693"/>
    <p:sldLayoutId xmlns:r="http://schemas.openxmlformats.org/officeDocument/2006/relationships" id="2147483663" r:id="Raf592ebd0f244834"/>
    <p:sldLayoutId xmlns:r="http://schemas.openxmlformats.org/officeDocument/2006/relationships" id="2147483664" r:id="Reffcfe10108c46e2"/>
    <p:sldLayoutId xmlns:r="http://schemas.openxmlformats.org/officeDocument/2006/relationships" id="2147483665" r:id="R77c06b54d5f84204"/>
    <p:sldLayoutId xmlns:r="http://schemas.openxmlformats.org/officeDocument/2006/relationships" id="2147483666" r:id="Rc5c80776c7c24e5f"/>
    <p:sldLayoutId xmlns:r="http://schemas.openxmlformats.org/officeDocument/2006/relationships" id="2147483667" r:id="R9c742f173df1431b"/>
    <p:sldLayoutId xmlns:r="http://schemas.openxmlformats.org/officeDocument/2006/relationships" id="2147483668" r:id="R048cb1adf6c44e24"/>
    <p:sldLayoutId xmlns:r="http://schemas.openxmlformats.org/officeDocument/2006/relationships" id="2147483669" r:id="R329ec7c6108e492e"/>
    <p:sldLayoutId xmlns:r="http://schemas.openxmlformats.org/officeDocument/2006/relationships" id="2147483670" r:id="Re65d2592c44d4a31"/>
    <p:sldLayoutId xmlns:r="http://schemas.openxmlformats.org/officeDocument/2006/relationships" id="2147483671" r:id="Rb6c223713b104983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5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712f058b24ca7" /><Relationship Type="http://schemas.openxmlformats.org/officeDocument/2006/relationships/image" Target="/ppt/media/image3.png" Id="R20e3d43144b74e9a" /><Relationship Type="http://schemas.openxmlformats.org/officeDocument/2006/relationships/notesSlide" Target="/ppt/notesSlides/notesSlide1.xml" Id="R36cf6e09cf894d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0887b60aba4517" /><Relationship Type="http://schemas.openxmlformats.org/officeDocument/2006/relationships/image" Target="/ppt/media/image4.png" Id="R4ced0623fc97401a" /><Relationship Type="http://schemas.openxmlformats.org/officeDocument/2006/relationships/image" Target="/ppt/media/image.jpeg" Id="Rfb57703a04b446c2" /><Relationship Type="http://schemas.openxmlformats.org/officeDocument/2006/relationships/notesSlide" Target="/ppt/notesSlides/notesSlide2.xml" Id="R2fdbbc8a07eb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744fb9fd8d4e35" /><Relationship Type="http://schemas.openxmlformats.org/officeDocument/2006/relationships/image" Target="/ppt/media/image.png" Id="Rcf80ccd35b4d46c2" /><Relationship Type="http://schemas.openxmlformats.org/officeDocument/2006/relationships/image" Target="/ppt/media/image5.png" Id="R6b6edaccc8f648ac" /><Relationship Type="http://schemas.openxmlformats.org/officeDocument/2006/relationships/image" Target="/ppt/media/image6.png" Id="Ra9fbe33aa2654c2d" /><Relationship Type="http://schemas.openxmlformats.org/officeDocument/2006/relationships/image" Target="/ppt/media/image2.jpeg" Id="R2399d0a4d3c2478d" /><Relationship Type="http://schemas.openxmlformats.org/officeDocument/2006/relationships/image" Target="/ppt/media/image7.png" Id="R5984f61402824f58" /><Relationship Type="http://schemas.openxmlformats.org/officeDocument/2006/relationships/image" Target="/ppt/media/image3.jpeg" Id="R8d2f0befd7004dd4" /><Relationship Type="http://schemas.openxmlformats.org/officeDocument/2006/relationships/notesSlide" Target="/ppt/notesSlides/notesSlide3.xml" Id="R9fa073371aa8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0594749a6f4bd4" /><Relationship Type="http://schemas.openxmlformats.org/officeDocument/2006/relationships/image" Target="/ppt/media/image8.png" Id="R6195a572409e439b" /><Relationship Type="http://schemas.openxmlformats.org/officeDocument/2006/relationships/notesSlide" Target="/ppt/notesSlides/notesSlide4.xml" Id="R42fb0961bc1f47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9f54e8c44124e71" /><Relationship Type="http://schemas.openxmlformats.org/officeDocument/2006/relationships/image" Target="/ppt/media/image.png" Id="Rf6c63f3dc39d4852" /><Relationship Type="http://schemas.openxmlformats.org/officeDocument/2006/relationships/notesSlide" Target="/ppt/notesSlides/notesSlide5.xml" Id="Re8d0cc4db5444d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46899c2c14a15" /><Relationship Type="http://schemas.openxmlformats.org/officeDocument/2006/relationships/image" Target="/ppt/media/image9.png" Id="R863ad720499946f3" /><Relationship Type="http://schemas.openxmlformats.org/officeDocument/2006/relationships/notesSlide" Target="/ppt/notesSlides/notesSlide6.xml" Id="R45b6b7dcd7794e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1bf3c5db34848" /><Relationship Type="http://schemas.openxmlformats.org/officeDocument/2006/relationships/notesSlide" Target="/ppt/notesSlides/notesSlide7.xml" Id="Rd9dc8c24e87847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8d1d300cc4e3b" /><Relationship Type="http://schemas.openxmlformats.org/officeDocument/2006/relationships/image" Target="/ppt/media/image10.png" Id="Rac09cda5775f40c9" /><Relationship Type="http://schemas.openxmlformats.org/officeDocument/2006/relationships/notesSlide" Target="/ppt/notesSlides/notesSlide8.xml" Id="R7bf15eddc4994f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e8f8b3543417e" /><Relationship Type="http://schemas.openxmlformats.org/officeDocument/2006/relationships/notesSlide" Target="/ppt/notesSlides/notesSlide9.xml" Id="Rae387e429ccd4b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085644d984871" /><Relationship Type="http://schemas.openxmlformats.org/officeDocument/2006/relationships/notesSlide" Target="/ppt/notesSlides/notesSlide10.xml" Id="Reed0f2578f9142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1405671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71900B2A-078D-462C-8C18-C33A9B7D6D9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rPr sz="4800"/>
              <a:t>СПКБ ОМЕГА </a:t>
            </a:r>
            <a:r>
              <a:rPr sz="4800"/>
              <a:t>SQUAD</a:t>
            </a:r>
            <a:endParaRPr sz="4800"/>
          </a:p>
        </p:txBody>
      </p:sp>
      <p:sp>
        <p:nvSpPr>
          <p:cNvPr id="1629854040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AAD1ACF3-9614-4382-AB1E-747A685C30E1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671362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>6</a:t>
            </a:r>
            <a:r>
              <a:t>. Мобильное приложение по повышению финансовой грамотности детей и молодежи Москвы</a:t>
            </a:r>
          </a:p>
        </p:txBody>
      </p:sp>
      <p:sp>
        <p:nvSpPr>
          <p:cNvPr id="102802128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7A0278D4-5B2D-45B2-A152-C3672BD0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211405671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3d43144b74e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241" y="172616"/>
            <a:ext cx="3569213" cy="15600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53267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ced0623fc97401a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8748346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C185296-A3F0-4F51-A5CA-0278137F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44053242" name="Рисунок 2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fb57703a04b446c2"/>
          <a:srcRect xmlns:a="http://schemas.openxmlformats.org/drawingml/2006/main" l="0" t="8741" r="0" b="8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4963"/>
            <a:ext cx="6456363" cy="2971800"/>
          </a:xfrm>
        </p:spPr>
      </p:pic>
      <p:sp>
        <p:nvSpPr>
          <p:cNvPr id="172891103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8929E-0CFA-4FA0-805F-F7CFD916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105242906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96D64C6-D9A6-4E3F-8CDD-C0397BB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148028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92500" lnSpcReduction="2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Наше решение выделяется игровой картой, которая объединяет весь финансовый цикл ребенка: работу, банк, магазин, развлечения и дом питомца. Ребенок не просто зарабатывает и тратит монеты - он перемещается по игровому миру, откладывает деньги на конкретные цели в банке, совершает покупки и видит, как его финансовые решения влияют на развитие питомца.</a:t>
            </a:r>
          </a:p>
        </p:txBody>
      </p:sp>
      <p:sp>
        <p:nvSpPr>
          <p:cNvPr id="204405323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0C68580D-14DE-4E0C-8052-A97BACC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925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b="1">
                <a:solidFill>
                  <a:schemeClr val="tx1"/>
                </a:solidFill>
              </a:rPr>
              <a:t>Капитан: </a:t>
            </a:r>
            <a:r>
              <a:rPr>
                <a:solidFill>
                  <a:schemeClr val="tx1"/>
                </a:solidFill>
              </a:rPr>
              <a:t>Ильюшонок</a:t>
            </a:r>
            <a:r>
              <a:rPr>
                <a:solidFill>
                  <a:schemeClr val="tx1"/>
                </a:solidFill>
              </a:rPr>
              <a:t> Владислав Андреевич, специальность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</a:t>
            </a:r>
            <a:r>
              <a:rPr>
                <a:solidFill>
                  <a:schemeClr val="tx1"/>
                </a:solidFill>
              </a:rPr>
              <a:t>5 человек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 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Мы состоим в чате студенческого проектно-конструкторского бюро «ОМЕГА».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Российская академия народного хозяйства и государственной службы при Президенте Российской федерации, факультет ЭМИТ</a:t>
            </a:r>
            <a:endParaRPr/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</a:t>
            </a:r>
            <a:r>
              <a:rPr>
                <a:solidFill>
                  <a:schemeClr val="tx1"/>
                </a:solidFill>
              </a:rPr>
              <a:t>Москва</a:t>
            </a:r>
            <a:endParaRPr/>
          </a:p>
        </p:txBody>
      </p:sp>
      <p:sp>
        <p:nvSpPr>
          <p:cNvPr id="91556147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B13E677-80F0-4117-A9F4-07B7BE36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110146182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12A90112-17C4-442B-9410-08E00925E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КОМАНДА</a:t>
            </a:r>
            <a:b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</a:br>
            <a: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«СПКБ ОМЕГА </a:t>
            </a:r>
            <a: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SQUAD</a:t>
            </a:r>
            <a:r>
              <a:rPr sz="2400">
                <a:solidFill>
                  <a:schemeClr val="accent5"/>
                </a:solidFill>
                <a:latin typeface="Montserrat"/>
                <a:ea typeface="Montserrat"/>
                <a:cs typeface="Montserrat"/>
              </a:rPr>
              <a:t>»</a:t>
            </a:r>
          </a:p>
        </p:txBody>
      </p:sp>
      <p:sp>
        <p:nvSpPr>
          <p:cNvPr id="34833914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53EFA451-ED4B-4F92-AE6C-F7ED064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51858658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172D0194-9671-4AA3-913F-C2F550F6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163356660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D3E46976-5257-4144-B299-CC08D4ED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6206022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10D6193-9900-4A21-9B95-9F5D7E5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98598991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2F236AC-FB46-4B52-8AEE-AE82E704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171411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Ребенок зарабатывает монеты и сам решает, как ими распорядиться: потратить на необходимое, отложить на цель или отказаться от необязательной покупки. Так он учится принимать финансовые решения и сразу видит их последствия.</a:t>
            </a:r>
          </a:p>
        </p:txBody>
      </p:sp>
      <p:sp>
        <p:nvSpPr>
          <p:cNvPr id="774944597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B621F780-9714-40F2-9C97-4CA6F8F3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7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75837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f80ccd35b4d46c2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606161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F4354BC5-5156-421E-B1E8-C6D01F79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381837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2E83BECC-A6A8-4A86-B3A8-521763B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Геймдизайн</a:t>
            </a:r>
            <a:r>
              <a:rPr sz="1200">
                <a:solidFill>
                  <a:schemeClr val="tx1"/>
                </a:solidFill>
              </a:rPr>
              <a:t> документация</a:t>
            </a:r>
            <a:endParaRPr/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</a:t>
            </a:r>
            <a:r>
              <a:rPr sz="1200">
                <a:solidFill>
                  <a:schemeClr val="tx1"/>
                </a:solidFill>
              </a:rPr>
              <a:t>cheverinka</a:t>
            </a:r>
            <a:endParaRPr/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</a:t>
            </a:r>
            <a:r>
              <a:rPr sz="1200">
                <a:solidFill>
                  <a:schemeClr val="tx1"/>
                </a:solidFill>
              </a:rPr>
              <a:t>9670220148</a:t>
            </a:r>
            <a:endParaRPr/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РАНХиГС</a:t>
            </a:r>
          </a:p>
        </p:txBody>
      </p:sp>
      <p:sp>
        <p:nvSpPr>
          <p:cNvPr id="39672660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69C8771-9154-4F76-8027-6758CFA4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Мусаллямова</a:t>
            </a:r>
            <a:r>
              <a:rPr sz="1600" b="1">
                <a:solidFill>
                  <a:schemeClr val="accent5"/>
                </a:solidFill>
              </a:rPr>
              <a:t> Алина</a:t>
            </a:r>
            <a:endParaRPr/>
          </a:p>
        </p:txBody>
      </p:sp>
      <p:sp>
        <p:nvSpPr>
          <p:cNvPr id="403062517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9E217536-0C86-4BD0-A47D-FF091B44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9820446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E1826C7-BCEB-4E34-8598-67DD2176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Бэкенд-разработчик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</a:t>
            </a:r>
            <a:r>
              <a:rPr sz="1200">
                <a:solidFill>
                  <a:schemeClr val="tx1"/>
                </a:solidFill>
              </a:rPr>
              <a:t>Shellgryphon</a:t>
            </a:r>
            <a:endParaRPr sz="1200">
              <a:solidFill>
                <a:schemeClr val="tx1"/>
              </a:solidFill>
            </a:endParaRP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+79622384517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РАНХиГС</a:t>
            </a:r>
          </a:p>
        </p:txBody>
      </p:sp>
      <p:sp>
        <p:nvSpPr>
          <p:cNvPr id="76206678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1F105EC-049C-4A16-97D9-619C4C6A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Озманян</a:t>
            </a:r>
            <a:r>
              <a:rPr sz="1600" b="1">
                <a:solidFill>
                  <a:schemeClr val="accent5"/>
                </a:solidFill>
              </a:rPr>
              <a:t> Максим</a:t>
            </a:r>
            <a:endParaRPr/>
          </a:p>
        </p:txBody>
      </p:sp>
      <p:sp>
        <p:nvSpPr>
          <p:cNvPr id="798059428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75CE611-F8CB-4E5C-8F23-3CBB6B7D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82863239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DF873CA-20A3-4795-9509-621D93E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Дизайнер, </a:t>
            </a:r>
            <a:r>
              <a:rPr sz="1200">
                <a:solidFill>
                  <a:schemeClr val="tx1"/>
                </a:solidFill>
              </a:rPr>
              <a:t>UX </a:t>
            </a:r>
            <a:r>
              <a:rPr sz="1200">
                <a:solidFill>
                  <a:schemeClr val="tx1"/>
                </a:solidFill>
              </a:rPr>
              <a:t>инженер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</a:t>
            </a:r>
            <a:r>
              <a:rPr sz="1200">
                <a:solidFill>
                  <a:schemeClr val="tx1"/>
                </a:solidFill>
              </a:rPr>
              <a:t>lizabetti_e</a:t>
            </a:r>
            <a:endParaRPr sz="1200">
              <a:solidFill>
                <a:schemeClr val="tx1"/>
              </a:solidFill>
            </a:endParaRP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+79001497799</a:t>
            </a:r>
            <a:endParaRPr/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РАНХиГС</a:t>
            </a:r>
          </a:p>
        </p:txBody>
      </p:sp>
      <p:sp>
        <p:nvSpPr>
          <p:cNvPr id="108880273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73F37C5-9571-4F7F-9DF8-64F01AEF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Штильмарк</a:t>
            </a:r>
            <a:r>
              <a:rPr sz="1600" b="1">
                <a:solidFill>
                  <a:schemeClr val="accent5"/>
                </a:solidFill>
              </a:rPr>
              <a:t> Елизавета</a:t>
            </a:r>
            <a:endParaRPr/>
          </a:p>
        </p:txBody>
      </p:sp>
      <p:sp>
        <p:nvSpPr>
          <p:cNvPr id="1572798762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7C1AB379-2BF5-4129-ACDC-BF86B3D6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64553827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39FCF8B-F3E2-42E2-9226-6A4A5F0C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Дизайнер, </a:t>
            </a:r>
            <a:r>
              <a:rPr sz="1200">
                <a:solidFill>
                  <a:schemeClr val="tx1"/>
                </a:solidFill>
              </a:rPr>
              <a:t>UX </a:t>
            </a:r>
            <a:r>
              <a:rPr sz="1200">
                <a:solidFill>
                  <a:schemeClr val="tx1"/>
                </a:solidFill>
              </a:rPr>
              <a:t>инженер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@Alan687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+79179689434</a:t>
            </a:r>
          </a:p>
          <a:p xmlns:a="http://schemas.openxmlformats.org/drawingml/2006/main">
            <a:pPr>
              <a:spcBef>
                <a:spcPts val="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РАНХиГС</a:t>
            </a:r>
          </a:p>
        </p:txBody>
      </p:sp>
      <p:sp>
        <p:nvSpPr>
          <p:cNvPr id="58940342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BCC1E3D-560B-4A37-A3DF-CBD53DBC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Абдюков</a:t>
            </a:r>
            <a:r>
              <a:rPr sz="1600" b="1">
                <a:solidFill>
                  <a:schemeClr val="accent5"/>
                </a:solidFill>
              </a:rPr>
              <a:t> Рафаэль</a:t>
            </a:r>
            <a:endParaRPr/>
          </a:p>
        </p:txBody>
      </p:sp>
      <p:sp>
        <p:nvSpPr>
          <p:cNvPr id="1620820582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5F62F33-79CB-4443-B5A7-C2807FE6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1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68105410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37C9BBB9-33B9-4D22-9F54-106BA7E3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4" y="324562"/>
            <a:ext cx="5249183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70843354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F061EB46-93B2-48E9-95CF-695B635E24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1645538297" name="Рисунок 8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6b6edaccc8f648ac"/>
          <a:srcRect xmlns:a="http://schemas.openxmlformats.org/drawingml/2006/main" l="0" t="5538" r="0" b="55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" y="1816100"/>
            <a:ext cx="1722438" cy="1552575"/>
          </a:xfrm>
        </p:spPr>
      </p:pic>
      <p:pic>
        <p:nvPicPr>
          <p:cNvPr id="1645538298" name="Рисунок 6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a9fbe33aa2654c2d"/>
          <a:srcRect xmlns:a="http://schemas.openxmlformats.org/drawingml/2006/main" l="0" t="4036" r="0" b="4036"/>
          <a:stretch xmlns:a="http://schemas.openxmlformats.org/drawingml/2006/main"/>
        </p:blipFill>
        <p:spPr>
          <a:xfrm xmlns:a="http://schemas.openxmlformats.org/drawingml/2006/main">
            <a:off x="2886075" y="1827213"/>
            <a:ext cx="1722438" cy="1541462"/>
          </a:xfrm>
        </p:spPr>
      </p:pic>
      <p:pic>
        <p:nvPicPr>
          <p:cNvPr id="1645538299" name="Рисунок 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2399d0a4d3c2478d"/>
          <a:srcRect xmlns:a="http://schemas.openxmlformats.org/drawingml/2006/main" l="0" t="16211" r="0" b="16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1809750"/>
            <a:ext cx="1722438" cy="1558925"/>
          </a:xfrm>
        </p:spPr>
      </p:pic>
      <p:pic>
        <p:nvPicPr>
          <p:cNvPr id="1645538300" name="Рисунок 12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5984f61402824f58"/>
          <a:srcRect xmlns:a="http://schemas.openxmlformats.org/drawingml/2006/main" l="0" t="5894" r="0" b="58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19988" y="1809750"/>
            <a:ext cx="1722437" cy="1558925"/>
          </a:xfrm>
        </p:spPr>
      </p:pic>
      <p:pic>
        <p:nvPicPr>
          <p:cNvPr id="1645538301" name="Рисунок 4"/>
          <p:cNvPicPr>
            <a:picLocks xmlns:a="http://schemas.openxmlformats.org/drawingml/2006/main" noChangeAspect="1"/>
          </p:cNvPicPr>
          <p:nvPr>
            <p:ph type="pic" idx="4294967295"/>
          </p:nvPr>
        </p:nvPicPr>
        <p:blipFill>
          <a:blip xmlns:r="http://schemas.openxmlformats.org/officeDocument/2006/relationships" xmlns:a="http://schemas.openxmlformats.org/drawingml/2006/main" r:embed="R8d2f0befd7004dd4"/>
          <a:srcRect xmlns:a="http://schemas.openxmlformats.org/drawingml/2006/main" l="0" t="15918" r="0" b="159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02814" y="1809750"/>
            <a:ext cx="1722299" cy="1558800"/>
          </a:xfrm>
        </p:spPr>
      </p:pic>
      <p:sp>
        <p:nvSpPr>
          <p:cNvPr id="1038433213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DCC4A454-6394-43CF-87B8-7B7031AC57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Montserrat"/>
                <a:ea typeface="Montserrat"/>
                <a:cs typeface="Montserrat"/>
              </a:rPr>
              <a:t>КОМАНДА «СПКБ ОМЕГА </a:t>
            </a:r>
            <a:r>
              <a:rPr>
                <a:latin typeface="Montserrat"/>
                <a:ea typeface="Montserrat"/>
                <a:cs typeface="Montserrat"/>
              </a:rPr>
              <a:t>SQUAD</a:t>
            </a:r>
            <a:r>
              <a:rPr>
                <a:latin typeface="Montserrat"/>
                <a:ea typeface="Montserrat"/>
                <a:cs typeface="Montserrat"/>
              </a:rPr>
              <a:t>»</a:t>
            </a:r>
          </a:p>
        </p:txBody>
      </p:sp>
      <p:sp>
        <p:nvSpPr>
          <p:cNvPr id="48972256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052885E-7B43-4D7F-8EA7-8566DEA4D18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Фулстак</a:t>
            </a:r>
            <a:r>
              <a:rPr sz="1200">
                <a:solidFill>
                  <a:schemeClr val="tx1"/>
                </a:solidFill>
              </a:rPr>
              <a:t>, капитан</a:t>
            </a:r>
            <a:endParaRPr/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@</a:t>
            </a:r>
            <a:r>
              <a:rPr sz="1200">
                <a:solidFill>
                  <a:schemeClr val="tx1"/>
                </a:solidFill>
              </a:rPr>
              <a:t>vvorich</a:t>
            </a:r>
            <a:r>
              <a:rPr sz="1200">
                <a:solidFill>
                  <a:schemeClr val="tx1"/>
                </a:solidFill>
              </a:rPr>
              <a:t> </a:t>
            </a:r>
            <a:endParaRPr/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+79912342675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>РАНХиГС</a:t>
            </a:r>
            <a:endParaRPr/>
          </a:p>
        </p:txBody>
      </p:sp>
      <p:sp>
        <p:nvSpPr>
          <p:cNvPr id="48109287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019ADF4-9306-47DD-81C2-C85B6E75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>Ильюшонок</a:t>
            </a:r>
            <a:r>
              <a:rPr sz="1600" b="1">
                <a:solidFill>
                  <a:schemeClr val="accent5"/>
                </a:solidFill>
              </a:rPr>
              <a:t> Владислав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1624792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195a572409e439b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836039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63D179F0-6634-4D20-A965-3226F39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4" y="324562"/>
            <a:ext cx="5133097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512802492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7436937-642D-46A3-B4C7-5D4C047B4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765100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2034E0FA-33B9-4AE0-A71A-BD00AB614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Montserrat"/>
                <a:ea typeface="Montserrat"/>
                <a:cs typeface="Montserrat"/>
              </a:rPr>
              <a:t>КОМАНДА «СПКБ ОМЕГА </a:t>
            </a:r>
            <a:r>
              <a:rPr>
                <a:latin typeface="Montserrat"/>
                <a:ea typeface="Montserrat"/>
                <a:cs typeface="Montserrat"/>
              </a:rPr>
              <a:t>SQUAD</a:t>
            </a:r>
            <a:r>
              <a:rPr>
                <a:latin typeface="Montserrat"/>
                <a:ea typeface="Montserrat"/>
                <a:cs typeface="Montserrat"/>
              </a:rPr>
              <a:t>»</a:t>
            </a:r>
          </a:p>
        </p:txBody>
      </p:sp>
      <p:sp>
        <p:nvSpPr>
          <p:cNvPr id="91750726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24C964B6-1824-4660-BB3C-D534CC24837C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6" y="1602273"/>
            <a:ext cx="10961708" cy="934263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Мы - студенты 1 курса РАНХиГС, для большинства из которых участие в </a:t>
            </a:r>
            <a:r>
              <a:rPr>
                <a:solidFill>
                  <a:schemeClr val="tx1"/>
                </a:solidFill>
              </a:rPr>
              <a:t>хакатоне</a:t>
            </a:r>
            <a:r>
              <a:rPr>
                <a:solidFill>
                  <a:schemeClr val="tx1"/>
                </a:solidFill>
              </a:rPr>
              <a:t> стало первым опытом. Исключение - капитан команды. Мы объединились незадолго до </a:t>
            </a:r>
            <a:r>
              <a:rPr>
                <a:solidFill>
                  <a:schemeClr val="tx1"/>
                </a:solidFill>
              </a:rPr>
              <a:t>хакатона</a:t>
            </a:r>
            <a:r>
              <a:rPr>
                <a:solidFill>
                  <a:schemeClr val="tx1"/>
                </a:solidFill>
              </a:rPr>
              <a:t>, познакомились с сообществе СПКБ и определили сильные стороны каждого участника. Сочетание наших умений позволяет нам создавать полезные и эффективные решения.</a:t>
            </a:r>
          </a:p>
        </p:txBody>
      </p:sp>
      <p:sp>
        <p:nvSpPr>
          <p:cNvPr id="130844970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3B4E7CE-A0E3-4B73-A2F1-F4FCF42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146238010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7AB6B6F-23FC-451A-8AC5-4E01818D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4"/>
            <a:ext cx="10754879" cy="12037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Самым сложным было превратить финансовую грамотность в игру, а не в обычный урок. Мы много раз перерабатывали механики, чтобы ребенок одновременно учился зарабатывать, тратить и копить, но при этом ему было интересно.</a:t>
            </a:r>
          </a:p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 итоге мы объединили все в единый игровой мир с картой, питомцем, работой, магазином и банком - так отдельные мини-игры стали частью одной истории.</a:t>
            </a:r>
          </a:p>
        </p:txBody>
      </p:sp>
      <p:sp>
        <p:nvSpPr>
          <p:cNvPr id="10294028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DCBB46-53A9-446E-8ACF-7BC66499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208921060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EC7CF4FA-013F-48C3-9215-E8E27E29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10879900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>В современном обществе проблема массового потребления и нерационального отношения к деньгам становится все более актуальной. Мы считаем важным с раннего возраста формировать у детей ответственное отношение к финансам и учить их осознанно распоряжаться деньгами.</a:t>
            </a:r>
          </a:p>
        </p:txBody>
      </p:sp>
      <p:sp>
        <p:nvSpPr>
          <p:cNvPr id="190522852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B5B2571-0A6D-47A8-8154-D561CA76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sp>
        <p:nvSpPr>
          <p:cNvPr id="1033324236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DE1C0C50-D453-43C0-A14D-240C87F4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0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55837028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EA1CE358-97C0-4EE4-A177-29CB7CEA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52690360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6FE3BA8D-07CD-4698-9548-435987A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5518597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C21A6FB-8710-4F44-8573-D2D8DAE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99584908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1503594-D28C-46CD-948D-91C17974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44898995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9C577B8-9430-4EEB-A986-6767708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7769081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6c63f3dc39d4852">
            <a:lum/>
          </a:blip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57417264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7371C2A4-90A5-4FA6-AFE7-40C8F823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1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21773415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47870DEF-0FB1-41B9-840F-DE65E15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478427883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05827ADC-FE06-419B-99A8-685C0A9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>
            <a:srgbClr val="000000"/>
          </a:lnRef>
          <a:fillRef xmlns:a="http://schemas.openxmlformats.org/drawingml/2006/main" idx="0">
            <a:srgbClr val="000000"/>
          </a:fillRef>
          <a:effectRef xmlns:a="http://schemas.openxmlformats.org/drawingml/2006/main" idx="0">
            <a:srgbClr val="000000"/>
          </a:effectRef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187166244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9D692BD7-6F36-4028-B98B-E70A131502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043291579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F776BFF3-C01B-41EC-914B-E7EB27E708D6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2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Kotlin + Jetpack Compose, MVVM/StateFlow, Navigation Compose и Hilt.</a:t>
            </a:r>
            <a:endParaRPr/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Room/SQLite хранит локальный профиль, баланс, покупки, цели, накопления и прогресс.</a:t>
            </a:r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Офлайн-работа без аккаунта, рекламы, платежей и разрешения INTERNET.</a:t>
            </a:r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План периода распределяет бюджет по обязательным расходам, желаниям и накоплениям; после периода план сравнивается с фактом.</a:t>
            </a:r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Игры доступны из общего каталога; периоды и прогресс сохраняются локально.</a:t>
            </a:r>
          </a:p>
          <a:p xmlns:a="http://schemas.openxmlformats.org/drawingml/2006/main">
            <a:pPr>
              <a:buNone/>
            </a:pPr>
            <a:r>
              <a:rPr sz="1400">
                <a:solidFill>
                  <a:schemeClr val="tx1"/>
                </a:solidFill>
              </a:rPr>
              <a:t>Release APK собирается; экспертная сборка подписана debug-ключом. Производственный ключ и физическое устройство остаются ограничениями.</a:t>
            </a:r>
          </a:p>
        </p:txBody>
      </p:sp>
      <p:sp>
        <p:nvSpPr>
          <p:cNvPr id="840182016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7F89BC7-6F05-44DA-B0E8-0E2CF109A62C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Финни превращает финансовый выбор в заботу о друге: ребёнок сразу видит, как решение меняет баланс, состояние питомца и путь к цели.</a:t>
            </a:r>
          </a:p>
          <a:p xmlns:a="http://schemas.openxmlformats.org/drawingml/2006/main">
            <a:pPr algn="l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Главный крючок — короткая игровая петля «выбор → понятное последствие → рост питомца».</a:t>
            </a:r>
          </a:p>
          <a:p xmlns:a="http://schemas.openxmlformats.org/drawingml/2006/main">
            <a:pPr marL="0" indent="0" algn="l">
              <a:buNone/>
              <a:defRPr sz="1400">
                <a:solidFill>
                  <a:srgbClr val="000000"/>
                </a:solidFill>
                <a:latin typeface="Montserrat"/>
                <a:ea typeface="Montserrat"/>
                <a:cs typeface="Montserrat"/>
              </a:defRPr>
            </a:pPr>
            <a:r>
              <a:rPr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Для родителей это безопасный офлайн-инструмент без рекламы и сбора данных, для школ — расширяемый учебный модуль с готовыми мини-играми.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2138085901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2E4AD270-659D-4A17-9352-FA7BB0AC50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КОРОТКО О РЕШЕНИИ</a:t>
            </a:r>
            <a:endParaRPr/>
          </a:p>
        </p:txBody>
      </p:sp>
      <p:sp>
        <p:nvSpPr>
          <p:cNvPr id="1026510809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FB04C0E3-BDE6-49C3-9CB1-9FC5AA9857D6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1107518365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E59F84EF-E7CE-4744-B81C-EE56AF95F051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3465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5209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3C657-F25D-4737-AE88-C71B58EF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905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5C721-02CB-4103-871F-F5381B5E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ОБРАЗОВАТЕЛЬНЫЕ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9517A-F1FF-4DC4-9E50-F42ECFA9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6CDAF-D22F-4AE3-B3CF-226A2A7D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5334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73E6B-D0BD-43A5-AF01-ACBF54B9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57300"/>
            <a:ext cx="5753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CC99F-1715-4FA7-9E5E-E6F56C7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После базового цикла ребёнок умеет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E15C-320F-43D1-AF1F-6D6FD9B7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57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различать обязательные и желательные расходы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распределять ограниченную сумму без отрицательного баланса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ставить краткосрочную цель и регулярно откладывать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объяснять, к чему привело финансовое решение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исправлять ошибку без потери прогресса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1AF0-1ED9-4787-85FA-DF8482D6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Финансовое решение сразу отражается на балансе, состоянии и развитии питомца.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3ad720499946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525" y="1543050"/>
            <a:ext cx="1768078" cy="314325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D8885-0359-477F-ADB1-25F83DA9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58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5865"/>
                </a:solidFill>
                <a:latin typeface="Montserrat"/>
                <a:ea typeface="Montserrat"/>
                <a:cs typeface="Montserrat"/>
              </a:rPr>
              <a:t>Главный экран связывает ресурсы, цель, задание и состояние Финни.</a:t>
            </a:r>
          </a:p>
        </p:txBody>
      </p:sp>
    </p:spTree>
    <p:extLst>
      <p:ext uri="{BB962C8B-B14F-4D97-AF65-F5344CB8AC3E}">
        <p14:creationId xmlns:p14="http://schemas.microsoft.com/office/powerpoint/2010/main" val="5652022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5209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69C65-F95A-48EA-BC0C-79C73202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FA58-AF25-436E-9E34-9E84B8D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ПОЛЬЗОВАТЕЛЬСКИЙ ПУТЬ И ИГРОВАЯ ЭКОНОМИКА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5298C-57C7-441D-9A0B-9429CB7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E4A6D-4267-4256-916C-A6BF914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3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52AA-3D81-48F4-B8D3-FB378C1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1  Старт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FB14D-574D-46DB-A439-378FCF8E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5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E2D64-7BFC-4719-A04A-2450A924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333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E654E-AC9F-41FD-BEBC-9229316C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62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  План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5E46C-5A91-48A9-9467-53924EC6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5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9DECF-C00E-4C8B-A43A-E5A6172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33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F3734-7AD8-4AD0-9BB6-F158CA2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3  Задание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B62F5-EE55-4019-8D44-9D92001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5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A7B16-5376-424E-B3CB-625A15D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33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4FBC6-8CFF-4EE5-B976-45EB1192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62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  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97386-7700-4A5B-B5EA-5E37015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52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D6E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B3263-AAED-491A-BE04-85E66A2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33500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7E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98B5A7-9518-44F9-AE46-19A9CE4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562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E9B72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2E9B72"/>
                </a:solidFill>
                <a:latin typeface="Montserrat"/>
                <a:ea typeface="Montserrat"/>
                <a:cs typeface="Montserrat"/>
              </a:rPr>
              <a:t>5  Итоги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2673A-EF33-42F2-AA0C-C9171A97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71750"/>
            <a:ext cx="4953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013BC-1354-4002-94C7-92C948F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0960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74961-F25E-4B1B-BA4D-4DE02AA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Игровой цикл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7F962-CCB4-44A2-80F4-6DB88974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143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создание локального профиля и питомца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получение игровой валюты за задания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выбор между важным, желаемым и накоплением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обратная связь и переход к следующему периоду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E8A8B-99BB-4766-A457-A3F75F8E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Экономика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E2F208-1083-4177-8E39-FF8A101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33750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Доходы: задания и понятные игровые начисления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Расходы: обязательные товары и желания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Накопления: цель, сумма и оставшийся прогресс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Результат: состояние и стадия роста питомца</a:t>
            </a:r>
          </a:p>
        </p:txBody>
      </p:sp>
    </p:spTree>
    <p:extLst>
      <p:ext uri="{BB962C8B-B14F-4D97-AF65-F5344CB8AC3E}">
        <p14:creationId xmlns:p14="http://schemas.microsoft.com/office/powerpoint/2010/main" val="863494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5209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B43A6-244D-4953-99BA-54E43737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905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0AC8F-FD49-4DF0-8CB2-62AC4BC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UX/UI И ДОСТУПНОСТЬ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1F6A7E-5E99-48E0-97FD-9829D4A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7019B-38FA-4295-8E03-6744D432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4476750" cy="476250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8EA6E-F563-41B4-A286-2C63B7C2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57300"/>
            <a:ext cx="65913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9cda5775f40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53565" y="1524000"/>
            <a:ext cx="1607344" cy="285750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FE0BC-4C50-4BAD-AFCC-7C16157C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58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D5865"/>
                </a:solidFill>
                <a:latin typeface="Montserrat"/>
                <a:ea typeface="Montserrat"/>
                <a:cs typeface="Montserrat"/>
              </a:rPr>
              <a:t>Интерактивные задания объясняют действие до начала и показывают последствие после ответа.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EEE67-B5F7-43B8-88A9-9EEE9C0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43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Решения для ребёнка 7–11 лет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D77E3-A3B9-4039-91C1-A9200F6B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38350"/>
            <a:ext cx="571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короткие фразы, крупные зоны нажатия и единая навигация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ошибка объясняется словами и следующим шагом, без стыда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цвет дополнен текстом и иконкой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звук и анимации можно отключить, настройка сохраняется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раздел для взрослого закрыт арифметическим барьером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профиль хранится локально, регистрация не нужна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32CAC-39F8-41B5-8C85-6C72FFA5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43500"/>
            <a:ext cx="571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Мини-игра «Весы» превращает абстрактное «доходы минус расходы» в действие пальцем.</a:t>
            </a:r>
          </a:p>
        </p:txBody>
      </p:sp>
    </p:spTree>
    <p:extLst>
      <p:ext uri="{BB962C8B-B14F-4D97-AF65-F5344CB8AC3E}">
        <p14:creationId xmlns:p14="http://schemas.microsoft.com/office/powerpoint/2010/main" val="1439145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5209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D80C7-69DE-46DB-9653-5CA5179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905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1EC54-3A96-491A-AED1-A46FDDBB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ТЕСТИРОВАНИЕ И ОГРАНИЧЕНИЯ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9F1C5-DE44-497F-9778-ABCE2DCB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520CE-F47D-4281-854F-DDAC9226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5429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33CF8-C062-46ED-81F6-B37DCEBC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56769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519EC-1FB2-470F-B714-10C6FD06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Проверено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321F7-86AC-484E-B0F3-7546DC2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572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Release APK и lint-сборка успешно проходят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Компиляция Kotlin проходит после добавления плана бюджета и учёта фактических категорий расходов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Сохранение профиля и прогресса работает через Room/SQLite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Android 8.0 и ширина 360 dp проверялись на эмуляторе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Unit-тесты формул есть, но полный прогон сейчас не подтверждён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D8374-2792-41BD-812D-B95519C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Статус проекта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A5650-01E3-45E3-AAF8-49ABCFE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Developer extra создаёт тестовый профиль, открывает пять периодов и уровни заданий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План бюджета редактируется до подтверждения и ограничен доступным балансом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Факт обязательных расходов, желаний и накоплений показывается рядом с планом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Проверка на физическом Android-устройстве сознательно пропущена по запросу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Release подписан debug-ключом; production-подпись требует ключ владельца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90F8C8-3BAC-4617-BA21-21AA9E85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97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Перед отправкой проверь APK, ссылки и доступ экспертов к файлам.</a:t>
            </a:r>
          </a:p>
        </p:txBody>
      </p:sp>
    </p:spTree>
    <p:extLst>
      <p:ext uri="{BB962C8B-B14F-4D97-AF65-F5344CB8AC3E}">
        <p14:creationId xmlns:p14="http://schemas.microsoft.com/office/powerpoint/2010/main" val="8904032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5209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D301E-38FB-47BB-BD98-7B8AD2B5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9052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A4C94-3E80-4898-8BB5-8A6ABF2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СДАЧА И ДАЛЬНЕЙШИЕ ШАГИ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F9727-5B85-4518-A6BA-BC47DE5F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2F2F2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6D307-E2E8-44FB-AF4B-4EAC71EF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5334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46BF6-B7CB-4383-A787-15003AF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257300"/>
            <a:ext cx="57531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10EC9-A479-4C01-801A-63D2FBC8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Материалы для экспертов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7B25F-7A8C-4DD9-AD61-F850F8C3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Репозиторий: github.com/vorich8/finny-pet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APK: GitHub Release v2.3.1-demo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PDF: FinnyPet_Documentation_2.3.1.pdf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PPTX: FinnyPet_Final_TZ_v2.pptx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Видео: не записано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Иконка: docs/icon_512.png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F6263-FD43-4B68-AD4E-0F5DA12A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586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5D5865"/>
                </a:solidFill>
                <a:latin typeface="Montserrat"/>
                <a:ea typeface="Montserrat"/>
                <a:cs typeface="Montserrat"/>
              </a:rPr>
              <a:t>Сборка release подписана debug-ключом и требует production-подписи владельца перед публикацией.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9AF6A-4AD6-4464-9B26-980C7F43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43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План закрытия ТЗ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C451D-9B92-47C1-BD9E-F7892651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Получить production keystore владельца и подписать публикационную сборку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Подтвердить права на переданные изображения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Провести проверку на физическом Android-устройстве с RAM от 3 ГБ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Вынести оставшиеся процедурные уровни из Kotlin в JSON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241735"/>
                </a:solidFill>
                <a:latin typeface="Montserrat"/>
                <a:ea typeface="Montserrat"/>
                <a:cs typeface="Montserrat"/>
              </a:rPr>
              <a:t>• Проверить полный обязательный путь и фактическое сравнение плана по завершённому периоду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71F39-DA38-46D7-A995-A32EEE6A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Ценность продукта масштабируется вместе с библиотекой заданий: новая тема добавляется как контент, а не как новый интерфейс.</a:t>
            </a:r>
          </a:p>
        </p:txBody>
      </p:sp>
    </p:spTree>
    <p:extLst>
      <p:ext uri="{BB962C8B-B14F-4D97-AF65-F5344CB8AC3E}">
        <p14:creationId xmlns:p14="http://schemas.microsoft.com/office/powerpoint/2010/main" val="136821283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Пользовательские 2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2026-09-29T18:35:57.8050000Z</dcterms:created>
  <dcterms:modified xsi:type="dcterms:W3CDTF">2026-09-29T18:35:57.8060000Z</dcterms:modified>
</coreProperties>
</file>